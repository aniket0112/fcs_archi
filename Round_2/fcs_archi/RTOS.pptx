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24C1-9328-2BE7-2987-82E50A751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01498-C007-F8DC-3939-FB13BFF2A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1482D-5515-4F16-DED9-C72BB37DD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E7CF1-6A2C-D837-BF43-5E7C896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915EA-89F9-3FA5-52A3-B3D3C780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334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DAA18-3DC4-666B-1CC9-7D4C17DA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E37B9-3370-4DCD-FA75-73E19F648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4E16B-31F2-F0A6-0438-3AFE67DDB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69156-3288-444A-ABF7-1B4E5BBCC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53C13-0A58-370D-99DC-856F261E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553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2595E-B418-E5FD-9427-94D6514EE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36447-EB69-D867-4B2A-D4587734A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06EB0-46CE-195F-5297-243E55E2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96DD8-6156-29D1-C02A-C91374D5D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F8828-3ED6-7FA1-EB99-B184197D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817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0D2FB-D4EA-D765-D08A-90DE9E29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3C187-B1A5-E556-64BE-B7FEBDB73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88313-34EA-FD5E-30A5-A328AFB8C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4A41D-C82A-B1E9-B12F-8BF925B08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675C9-9995-0128-2C5E-265A9398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F0146-600A-D680-944D-E0D25E79D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73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B1C9-F7C4-5945-13D9-95FB0DC96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88C17-EC1C-1E7C-0C62-FEC4E926E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BF084-4727-114D-B4D2-7ADC38B0C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5C44C-1D0F-96C3-E3B1-2ED414BAA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903938-03EE-F764-A392-8EF9A73B1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9C4F1-F151-9884-D1B9-CC13557BA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CB1D2-89F8-BD42-FAC3-CA6193E45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468968-2C2F-FDE5-EF8A-E8107DBE5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31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F7E0-3D6A-3439-3D7B-9A444D84E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071D4-484B-966C-3349-BBCDA937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35D2E-035B-84E2-3569-95CDF267A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809092-305D-D8DC-634A-859753A2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518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DB1C3-CD1F-CAF8-238E-217D0FFF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1DC69-3457-751B-E26E-85222036F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525B7-BD43-FCFA-F071-56F73266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50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47E02-529C-297E-D69C-232E20511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EC259-A4AD-3ED9-D452-571EDED86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B357F-DD5B-2AA3-6B07-12F229935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E0EF9-F2E9-16BB-B7A9-0FE400A7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656BF-40F3-B0EE-6C10-37A51E45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CFC28-1264-0A32-EC3C-C9E64333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63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C22C-A892-4843-677C-1E0533BF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5CF7E4-5EAB-DA9A-9E6E-B56B432B1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1B1BE-3E4C-5E7A-BC08-FFDF84EDF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C4151-0991-5729-30E6-8B4DCEC91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6F66C-741B-86E3-1CDA-9B558FAC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613F2-1935-ED47-B517-16C47ADD6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070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D69B7-4E30-FC1B-2594-AF2268484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6C52D-1877-8E8D-00C8-B1A226BD5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56370-50D9-87E1-E02B-C3B8E4CB9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921E5-50AF-F307-58E4-033AB05B1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F4551-6E24-14D6-4102-8D6C66DF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70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26529B-5E07-1DFE-F80E-0BA9B633D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388A2-DF89-1FE1-31B3-369C3820E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A749F-9662-1F9B-CAB1-482C0AE1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7A4D0-C1CD-FEFE-C065-BFBE8E6D0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50524-C982-497D-91DB-74241D00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912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B24536-A0FB-A948-FCA0-7D23548FA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F81A9-5968-6205-B164-36EB6B227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B4C40-78C7-28AE-6CB6-34F4202D1F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5BCE8-AE0B-A211-5DF9-986015EC9A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3B0C0-3AC2-DFBC-CF86-8D330709D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03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330ACD2-85A0-5447-EBA7-00C72ACA2C5A}"/>
              </a:ext>
            </a:extLst>
          </p:cNvPr>
          <p:cNvSpPr/>
          <p:nvPr/>
        </p:nvSpPr>
        <p:spPr>
          <a:xfrm>
            <a:off x="3091992" y="947120"/>
            <a:ext cx="8088198" cy="56516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dirty="0" err="1"/>
              <a:t>Rate_Monotonic_Scheduler</a:t>
            </a:r>
            <a:endParaRPr lang="en-IN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CDE82DA-9F87-B256-05F6-478378560052}"/>
              </a:ext>
            </a:extLst>
          </p:cNvPr>
          <p:cNvCxnSpPr>
            <a:stCxn id="4" idx="3"/>
            <a:endCxn id="8" idx="0"/>
          </p:cNvCxnSpPr>
          <p:nvPr/>
        </p:nvCxnSpPr>
        <p:spPr>
          <a:xfrm>
            <a:off x="7114559" y="2408988"/>
            <a:ext cx="2032815" cy="72864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9EDCED4-6632-35C0-3874-899BAB8EFA06}"/>
              </a:ext>
            </a:extLst>
          </p:cNvPr>
          <p:cNvCxnSpPr>
            <a:cxnSpLocks/>
            <a:stCxn id="8" idx="2"/>
            <a:endCxn id="11" idx="3"/>
          </p:cNvCxnSpPr>
          <p:nvPr/>
        </p:nvCxnSpPr>
        <p:spPr>
          <a:xfrm rot="5400000">
            <a:off x="7656173" y="4180536"/>
            <a:ext cx="873134" cy="210926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9DE04D-8D48-FF2C-526F-0517528E1504}"/>
              </a:ext>
            </a:extLst>
          </p:cNvPr>
          <p:cNvGrpSpPr/>
          <p:nvPr/>
        </p:nvGrpSpPr>
        <p:grpSpPr>
          <a:xfrm>
            <a:off x="3478955" y="1584736"/>
            <a:ext cx="3635604" cy="1648504"/>
            <a:chOff x="2036190" y="998056"/>
            <a:chExt cx="4059810" cy="188535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B3ED1A-7734-86A3-3D5A-A747F548B139}"/>
                </a:ext>
              </a:extLst>
            </p:cNvPr>
            <p:cNvGrpSpPr/>
            <p:nvPr/>
          </p:nvGrpSpPr>
          <p:grpSpPr>
            <a:xfrm>
              <a:off x="2036190" y="998056"/>
              <a:ext cx="4059810" cy="1885359"/>
              <a:chOff x="904970" y="537330"/>
              <a:chExt cx="3384223" cy="32711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0E9DE42-5F9E-0DDC-E2BE-B835575E2EBD}"/>
                  </a:ext>
                </a:extLst>
              </p:cNvPr>
              <p:cNvSpPr/>
              <p:nvPr/>
            </p:nvSpPr>
            <p:spPr>
              <a:xfrm>
                <a:off x="904970" y="537330"/>
                <a:ext cx="3384223" cy="32711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/>
                  <a:t>Inner_Loop_Thread (2.5ms)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804FC1C-6BEE-AC71-1927-96260893E342}"/>
                  </a:ext>
                </a:extLst>
              </p:cNvPr>
              <p:cNvSpPr/>
              <p:nvPr/>
            </p:nvSpPr>
            <p:spPr>
              <a:xfrm>
                <a:off x="1465948" y="1046376"/>
                <a:ext cx="2780907" cy="61274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 err="1"/>
                  <a:t>Data_Acquistion_Task</a:t>
                </a:r>
                <a:endParaRPr lang="en-IN" sz="1400" dirty="0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0BBC4FF-80E5-D72F-857D-0EC613A6E6E3}"/>
                  </a:ext>
                </a:extLst>
              </p:cNvPr>
              <p:cNvSpPr/>
              <p:nvPr/>
            </p:nvSpPr>
            <p:spPr>
              <a:xfrm>
                <a:off x="1465945" y="1937207"/>
                <a:ext cx="2780907" cy="61274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/>
                  <a:t>FDIR_Task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1054E34-0427-029A-4053-C4C362AC7702}"/>
                  </a:ext>
                </a:extLst>
              </p:cNvPr>
              <p:cNvSpPr/>
              <p:nvPr/>
            </p:nvSpPr>
            <p:spPr>
              <a:xfrm>
                <a:off x="1465945" y="2816257"/>
                <a:ext cx="2780907" cy="61274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 err="1"/>
                  <a:t>Attitude_Controller_Task</a:t>
                </a:r>
                <a:endParaRPr lang="en-IN" sz="1400" dirty="0"/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299C5D-5AC3-E49B-67F2-DF784FD431A9}"/>
                </a:ext>
              </a:extLst>
            </p:cNvPr>
            <p:cNvSpPr/>
            <p:nvPr/>
          </p:nvSpPr>
          <p:spPr>
            <a:xfrm>
              <a:off x="2108721" y="1107401"/>
              <a:ext cx="527901" cy="166666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sz="700" dirty="0"/>
                <a:t>Priority</a:t>
              </a:r>
            </a:p>
            <a:p>
              <a:pPr algn="ctr"/>
              <a:r>
                <a:rPr lang="en-IN" sz="3600" dirty="0"/>
                <a:t>1</a:t>
              </a:r>
              <a:endParaRPr lang="en-IN" sz="14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5F4A9C4-BB5A-7625-762C-CEDBA720D7DF}"/>
              </a:ext>
            </a:extLst>
          </p:cNvPr>
          <p:cNvGrpSpPr/>
          <p:nvPr/>
        </p:nvGrpSpPr>
        <p:grpSpPr>
          <a:xfrm>
            <a:off x="7259886" y="3137631"/>
            <a:ext cx="3774976" cy="1660972"/>
            <a:chOff x="6768962" y="2563419"/>
            <a:chExt cx="4120573" cy="188535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F444DBB-3D92-0785-CE19-10BD6433FBB4}"/>
                </a:ext>
              </a:extLst>
            </p:cNvPr>
            <p:cNvGrpSpPr/>
            <p:nvPr/>
          </p:nvGrpSpPr>
          <p:grpSpPr>
            <a:xfrm>
              <a:off x="6768962" y="2563419"/>
              <a:ext cx="4120573" cy="1885359"/>
              <a:chOff x="4892509" y="537330"/>
              <a:chExt cx="3384223" cy="32711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87F9232-0E5F-CEC0-3A59-BA7845085810}"/>
                  </a:ext>
                </a:extLst>
              </p:cNvPr>
              <p:cNvSpPr/>
              <p:nvPr/>
            </p:nvSpPr>
            <p:spPr>
              <a:xfrm>
                <a:off x="4892509" y="537330"/>
                <a:ext cx="3384223" cy="32711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 err="1"/>
                  <a:t>Outer_Loop_Thread</a:t>
                </a:r>
                <a:r>
                  <a:rPr lang="en-IN" sz="1400" dirty="0"/>
                  <a:t> (20ms)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BEDA0E7-4B63-B52C-A164-11AE757BF7E3}"/>
                  </a:ext>
                </a:extLst>
              </p:cNvPr>
              <p:cNvSpPr/>
              <p:nvPr/>
            </p:nvSpPr>
            <p:spPr>
              <a:xfrm>
                <a:off x="5462791" y="1452939"/>
                <a:ext cx="2780907" cy="61274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 err="1"/>
                  <a:t>Mission_Manager_Task</a:t>
                </a:r>
                <a:endParaRPr lang="en-IN" sz="14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69F1CFD-25AA-3635-4273-C6150F47E078}"/>
                  </a:ext>
                </a:extLst>
              </p:cNvPr>
              <p:cNvSpPr/>
              <p:nvPr/>
            </p:nvSpPr>
            <p:spPr>
              <a:xfrm>
                <a:off x="5462791" y="2432644"/>
                <a:ext cx="2780907" cy="61274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 err="1"/>
                  <a:t>Position_Controller_Task</a:t>
                </a:r>
                <a:endParaRPr lang="en-IN" sz="1400" dirty="0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B9B34AF-B4C9-04FF-6843-0965971B3AA9}"/>
                </a:ext>
              </a:extLst>
            </p:cNvPr>
            <p:cNvSpPr/>
            <p:nvPr/>
          </p:nvSpPr>
          <p:spPr>
            <a:xfrm>
              <a:off x="6852195" y="2672764"/>
              <a:ext cx="527901" cy="166666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sz="700" dirty="0"/>
                <a:t>Priority</a:t>
              </a:r>
            </a:p>
            <a:p>
              <a:pPr algn="ctr"/>
              <a:r>
                <a:rPr lang="en-IN" sz="3600" dirty="0"/>
                <a:t>2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3C0B55-E70C-9049-D549-48B5378B2C21}"/>
              </a:ext>
            </a:extLst>
          </p:cNvPr>
          <p:cNvGrpSpPr/>
          <p:nvPr/>
        </p:nvGrpSpPr>
        <p:grpSpPr>
          <a:xfrm>
            <a:off x="3543907" y="4852056"/>
            <a:ext cx="3494199" cy="1639362"/>
            <a:chOff x="2036190" y="4838345"/>
            <a:chExt cx="4248343" cy="188535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567165A-7482-A479-E68A-BF0588866AF5}"/>
                </a:ext>
              </a:extLst>
            </p:cNvPr>
            <p:cNvGrpSpPr/>
            <p:nvPr/>
          </p:nvGrpSpPr>
          <p:grpSpPr>
            <a:xfrm>
              <a:off x="2036190" y="4838345"/>
              <a:ext cx="4248343" cy="1885359"/>
              <a:chOff x="8617666" y="537330"/>
              <a:chExt cx="3384223" cy="32711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7C128AD-6FB6-8CDF-34C7-31D98F8DEC12}"/>
                  </a:ext>
                </a:extLst>
              </p:cNvPr>
              <p:cNvSpPr/>
              <p:nvPr/>
            </p:nvSpPr>
            <p:spPr>
              <a:xfrm>
                <a:off x="8617666" y="537330"/>
                <a:ext cx="3384223" cy="32711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 err="1"/>
                  <a:t>Telemetry_Thread</a:t>
                </a:r>
                <a:r>
                  <a:rPr lang="en-IN" sz="1400" dirty="0"/>
                  <a:t> (aperiodic)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B25F540-46C3-92A1-EF7D-BCF3339EA651}"/>
                  </a:ext>
                </a:extLst>
              </p:cNvPr>
              <p:cNvSpPr/>
              <p:nvPr/>
            </p:nvSpPr>
            <p:spPr>
              <a:xfrm>
                <a:off x="9137098" y="1523876"/>
                <a:ext cx="2780907" cy="61274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 err="1"/>
                  <a:t>FDIR_Task_Notify</a:t>
                </a:r>
                <a:endParaRPr lang="en-IN" sz="1400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E4095C0-3803-154D-51E5-AD6C2B959C7B}"/>
                  </a:ext>
                </a:extLst>
              </p:cNvPr>
              <p:cNvSpPr/>
              <p:nvPr/>
            </p:nvSpPr>
            <p:spPr>
              <a:xfrm>
                <a:off x="9137093" y="2414705"/>
                <a:ext cx="2780907" cy="61274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/>
                  <a:t>Logger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76EFA04-0714-5DDB-AFCE-24A85E9C2AFE}"/>
                </a:ext>
              </a:extLst>
            </p:cNvPr>
            <p:cNvSpPr/>
            <p:nvPr/>
          </p:nvSpPr>
          <p:spPr>
            <a:xfrm>
              <a:off x="2108721" y="5011616"/>
              <a:ext cx="527901" cy="166666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sz="700" dirty="0"/>
                <a:t>Priority</a:t>
              </a:r>
            </a:p>
            <a:p>
              <a:pPr algn="ctr"/>
              <a:r>
                <a:rPr lang="en-IN" sz="3600" dirty="0"/>
                <a:t>3</a:t>
              </a:r>
            </a:p>
          </p:txBody>
        </p:sp>
      </p:grpSp>
      <p:sp>
        <p:nvSpPr>
          <p:cNvPr id="25" name="Title 24">
            <a:extLst>
              <a:ext uri="{FF2B5EF4-FFF2-40B4-BE49-F238E27FC236}">
                <a16:creationId xmlns:a16="http://schemas.microsoft.com/office/drawing/2014/main" id="{E5F60A4F-AE15-D22A-DB68-178A7C33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995"/>
          </a:xfrm>
        </p:spPr>
        <p:txBody>
          <a:bodyPr>
            <a:noAutofit/>
          </a:bodyPr>
          <a:lstStyle/>
          <a:p>
            <a:r>
              <a:rPr lang="en-IN" sz="3200" dirty="0"/>
              <a:t>RTOS architecture (Rate </a:t>
            </a:r>
            <a:r>
              <a:rPr lang="en-IN" sz="3200" dirty="0" err="1"/>
              <a:t>Monotic</a:t>
            </a:r>
            <a:r>
              <a:rPr lang="en-IN" sz="3200" dirty="0"/>
              <a:t> Scheduler with pre-emption)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21A5E5-8E6C-A694-F86F-1FACD7D189B1}"/>
              </a:ext>
            </a:extLst>
          </p:cNvPr>
          <p:cNvSpPr/>
          <p:nvPr/>
        </p:nvSpPr>
        <p:spPr>
          <a:xfrm>
            <a:off x="220317" y="1841275"/>
            <a:ext cx="2107746" cy="581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200" dirty="0" err="1"/>
              <a:t>Interrupt_Service_Routine</a:t>
            </a:r>
            <a:endParaRPr lang="en-IN" sz="1200" dirty="0"/>
          </a:p>
          <a:p>
            <a:pPr algn="ctr"/>
            <a:r>
              <a:rPr lang="en-IN" sz="1200" dirty="0"/>
              <a:t>Hardware </a:t>
            </a:r>
            <a:r>
              <a:rPr lang="en-IN" sz="1200" dirty="0" err="1"/>
              <a:t>Preemption</a:t>
            </a:r>
            <a:endParaRPr lang="en-IN" sz="12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15BAC9-D0EA-22BA-68A9-9CCAF74536D6}"/>
              </a:ext>
            </a:extLst>
          </p:cNvPr>
          <p:cNvSpPr/>
          <p:nvPr/>
        </p:nvSpPr>
        <p:spPr>
          <a:xfrm>
            <a:off x="248592" y="1112325"/>
            <a:ext cx="2107746" cy="581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200" dirty="0" err="1"/>
              <a:t>Hardware_Timer</a:t>
            </a:r>
            <a:endParaRPr lang="en-IN" sz="12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F9DE972-587F-6CB8-1BA9-FA416D3ED22E}"/>
              </a:ext>
            </a:extLst>
          </p:cNvPr>
          <p:cNvCxnSpPr>
            <a:stCxn id="35" idx="3"/>
          </p:cNvCxnSpPr>
          <p:nvPr/>
        </p:nvCxnSpPr>
        <p:spPr>
          <a:xfrm>
            <a:off x="2356338" y="1403323"/>
            <a:ext cx="699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F3EF531-8C61-FB39-D9C3-931856E05D63}"/>
              </a:ext>
            </a:extLst>
          </p:cNvPr>
          <p:cNvSpPr/>
          <p:nvPr/>
        </p:nvSpPr>
        <p:spPr>
          <a:xfrm>
            <a:off x="8668299" y="1208165"/>
            <a:ext cx="2107746" cy="5819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Deadline_Monitor</a:t>
            </a:r>
            <a:r>
              <a:rPr lang="en-IN" sz="1400" dirty="0"/>
              <a:t> (WDT)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A5ACD07-9C26-8956-E80C-21405C991667}"/>
              </a:ext>
            </a:extLst>
          </p:cNvPr>
          <p:cNvCxnSpPr>
            <a:cxnSpLocks/>
            <a:stCxn id="38" idx="1"/>
            <a:endCxn id="4" idx="1"/>
          </p:cNvCxnSpPr>
          <p:nvPr/>
        </p:nvCxnSpPr>
        <p:spPr>
          <a:xfrm flipH="1">
            <a:off x="3478955" y="1499163"/>
            <a:ext cx="5189344" cy="90982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07732A6-ABBB-D78D-F42B-C779C348C2A5}"/>
              </a:ext>
            </a:extLst>
          </p:cNvPr>
          <p:cNvCxnSpPr>
            <a:cxnSpLocks/>
            <a:stCxn id="38" idx="1"/>
            <a:endCxn id="4" idx="3"/>
          </p:cNvCxnSpPr>
          <p:nvPr/>
        </p:nvCxnSpPr>
        <p:spPr>
          <a:xfrm flipH="1">
            <a:off x="7114559" y="1499163"/>
            <a:ext cx="1553740" cy="90982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55FADD8-DF77-4F11-D20F-D46C9885822D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9147374" y="1790161"/>
            <a:ext cx="574798" cy="1347470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E851847-DF51-F8B6-6160-E9DC867E0D7A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9175712" y="1790161"/>
            <a:ext cx="546460" cy="3008442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9783172-EEA4-7848-EEB7-3BD6B8F1A231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5291007" y="1790161"/>
            <a:ext cx="3829207" cy="306189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67B8798-3EA6-EBCA-2B93-0BC478BB5791}"/>
              </a:ext>
            </a:extLst>
          </p:cNvPr>
          <p:cNvCxnSpPr>
            <a:cxnSpLocks/>
          </p:cNvCxnSpPr>
          <p:nvPr/>
        </p:nvCxnSpPr>
        <p:spPr>
          <a:xfrm flipH="1">
            <a:off x="5315437" y="1802384"/>
            <a:ext cx="3795089" cy="4710644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29FCF3A-9AFD-68E9-F51E-97318F6904F0}"/>
              </a:ext>
            </a:extLst>
          </p:cNvPr>
          <p:cNvCxnSpPr>
            <a:cxnSpLocks/>
            <a:stCxn id="5" idx="1"/>
            <a:endCxn id="27" idx="3"/>
          </p:cNvCxnSpPr>
          <p:nvPr/>
        </p:nvCxnSpPr>
        <p:spPr>
          <a:xfrm flipH="1">
            <a:off x="2328063" y="1995674"/>
            <a:ext cx="1753540" cy="136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3B8F36BE-E32A-17FE-3F5D-13901681751B}"/>
              </a:ext>
            </a:extLst>
          </p:cNvPr>
          <p:cNvSpPr/>
          <p:nvPr/>
        </p:nvSpPr>
        <p:spPr>
          <a:xfrm>
            <a:off x="220317" y="3809020"/>
            <a:ext cx="2107746" cy="581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200" dirty="0" err="1"/>
              <a:t>Hardware_IO</a:t>
            </a:r>
            <a:r>
              <a:rPr lang="en-IN" sz="1200" dirty="0"/>
              <a:t> Ports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C391D29-8048-8A5E-9BB8-BA664F5B80C6}"/>
              </a:ext>
            </a:extLst>
          </p:cNvPr>
          <p:cNvCxnSpPr>
            <a:cxnSpLocks/>
            <a:stCxn id="60" idx="0"/>
            <a:endCxn id="27" idx="2"/>
          </p:cNvCxnSpPr>
          <p:nvPr/>
        </p:nvCxnSpPr>
        <p:spPr>
          <a:xfrm flipV="1">
            <a:off x="1274190" y="2423271"/>
            <a:ext cx="0" cy="1385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EF55ACA-87EB-D8B0-DF73-D9278BB03B28}"/>
              </a:ext>
            </a:extLst>
          </p:cNvPr>
          <p:cNvCxnSpPr>
            <a:cxnSpLocks/>
            <a:stCxn id="7" idx="2"/>
            <a:endCxn id="60" idx="3"/>
          </p:cNvCxnSpPr>
          <p:nvPr/>
        </p:nvCxnSpPr>
        <p:spPr>
          <a:xfrm flipH="1">
            <a:off x="2328063" y="3042022"/>
            <a:ext cx="3247273" cy="1057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854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A93B87-60CF-8848-4E4F-F81AC0708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414"/>
            <a:ext cx="10515600" cy="823422"/>
          </a:xfrm>
        </p:spPr>
        <p:txBody>
          <a:bodyPr/>
          <a:lstStyle/>
          <a:p>
            <a:r>
              <a:rPr lang="en-IN" dirty="0"/>
              <a:t>Inter-Process Communication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182760E-A7F5-4768-03FD-5CA1214231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7750186"/>
              </p:ext>
            </p:extLst>
          </p:nvPr>
        </p:nvGraphicFramePr>
        <p:xfrm>
          <a:off x="838199" y="898836"/>
          <a:ext cx="9229626" cy="527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9224">
                  <a:extLst>
                    <a:ext uri="{9D8B030D-6E8A-4147-A177-3AD203B41FA5}">
                      <a16:colId xmlns:a16="http://schemas.microsoft.com/office/drawing/2014/main" val="1751186737"/>
                    </a:ext>
                  </a:extLst>
                </a:gridCol>
                <a:gridCol w="2315097">
                  <a:extLst>
                    <a:ext uri="{9D8B030D-6E8A-4147-A177-3AD203B41FA5}">
                      <a16:colId xmlns:a16="http://schemas.microsoft.com/office/drawing/2014/main" val="3377694345"/>
                    </a:ext>
                  </a:extLst>
                </a:gridCol>
                <a:gridCol w="1545995">
                  <a:extLst>
                    <a:ext uri="{9D8B030D-6E8A-4147-A177-3AD203B41FA5}">
                      <a16:colId xmlns:a16="http://schemas.microsoft.com/office/drawing/2014/main" val="2730303375"/>
                    </a:ext>
                  </a:extLst>
                </a:gridCol>
                <a:gridCol w="2149310">
                  <a:extLst>
                    <a:ext uri="{9D8B030D-6E8A-4147-A177-3AD203B41FA5}">
                      <a16:colId xmlns:a16="http://schemas.microsoft.com/office/drawing/2014/main" val="42391265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Read/Write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Mechanism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42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/>
                        <a:t>Data_Acquisition_Task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IMU_Rate</a:t>
                      </a:r>
                      <a:endParaRPr lang="en-IN" sz="1600" dirty="0"/>
                    </a:p>
                    <a:p>
                      <a:r>
                        <a:rPr lang="en-IN" sz="1600" dirty="0"/>
                        <a:t>Heading</a:t>
                      </a:r>
                    </a:p>
                    <a:p>
                      <a:r>
                        <a:rPr lang="en-IN" sz="1600" dirty="0"/>
                        <a:t>GPS</a:t>
                      </a:r>
                    </a:p>
                    <a:p>
                      <a:r>
                        <a:rPr lang="en-IN" sz="1600" dirty="0"/>
                        <a:t>Altitude</a:t>
                      </a:r>
                    </a:p>
                    <a:p>
                      <a:r>
                        <a:rPr lang="en-IN" sz="1600" dirty="0"/>
                        <a:t>Airspeed</a:t>
                      </a:r>
                    </a:p>
                    <a:p>
                      <a:r>
                        <a:rPr lang="en-IN" sz="1600" dirty="0" err="1"/>
                        <a:t>Sensor_Mode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Sensor_State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Target_Altitude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Manual_Commands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Priority-Inheritance Mutex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46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FDIR_Task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FDIR_Health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Number_Of_Failures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Priority-Inheritance Mutex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15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/>
                        <a:t>Attitude_Controller_Task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IMU_Rate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Kin_State_Correction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Roll_Target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Pitch_Target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Yaw_Target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Throttle_Target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Autopilot_Mode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Flight_Phase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Priority-Inheritance Mutex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945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432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F9C02-7EF8-212F-F020-5478DC801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DE49DD8-512C-BBED-6263-5A16B02A4B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7447"/>
              </p:ext>
            </p:extLst>
          </p:nvPr>
        </p:nvGraphicFramePr>
        <p:xfrm>
          <a:off x="867266" y="118628"/>
          <a:ext cx="9445658" cy="6620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4574">
                  <a:extLst>
                    <a:ext uri="{9D8B030D-6E8A-4147-A177-3AD203B41FA5}">
                      <a16:colId xmlns:a16="http://schemas.microsoft.com/office/drawing/2014/main" val="1751186737"/>
                    </a:ext>
                  </a:extLst>
                </a:gridCol>
                <a:gridCol w="2333227">
                  <a:extLst>
                    <a:ext uri="{9D8B030D-6E8A-4147-A177-3AD203B41FA5}">
                      <a16:colId xmlns:a16="http://schemas.microsoft.com/office/drawing/2014/main" val="3377694345"/>
                    </a:ext>
                  </a:extLst>
                </a:gridCol>
                <a:gridCol w="1395167">
                  <a:extLst>
                    <a:ext uri="{9D8B030D-6E8A-4147-A177-3AD203B41FA5}">
                      <a16:colId xmlns:a16="http://schemas.microsoft.com/office/drawing/2014/main" val="2730303375"/>
                    </a:ext>
                  </a:extLst>
                </a:gridCol>
                <a:gridCol w="2422690">
                  <a:extLst>
                    <a:ext uri="{9D8B030D-6E8A-4147-A177-3AD203B41FA5}">
                      <a16:colId xmlns:a16="http://schemas.microsoft.com/office/drawing/2014/main" val="2674313157"/>
                    </a:ext>
                  </a:extLst>
                </a:gridCol>
              </a:tblGrid>
              <a:tr h="347918">
                <a:tc>
                  <a:txBody>
                    <a:bodyPr/>
                    <a:lstStyle/>
                    <a:p>
                      <a:r>
                        <a:rPr lang="en-IN" sz="1600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Read/Write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Mechanism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428876"/>
                  </a:ext>
                </a:extLst>
              </a:tr>
              <a:tr h="13726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/>
                        <a:t>Attitude_Controller_Task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Predicted_State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Elevator_Saturation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Aileron_Saturation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Rudder_Saturation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ESC_Saturation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Predicted_State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Priority-Inheritance Mutex/Double-Buffering for </a:t>
                      </a:r>
                      <a:r>
                        <a:rPr kumimoji="0" lang="en-IN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Predicted_State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945786"/>
                  </a:ext>
                </a:extLst>
              </a:tr>
              <a:tr h="1372610">
                <a:tc>
                  <a:txBody>
                    <a:bodyPr/>
                    <a:lstStyle/>
                    <a:p>
                      <a:r>
                        <a:rPr lang="en-IN" sz="1600" dirty="0" err="1"/>
                        <a:t>Mission_Manager_Task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Pilot_Action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Target_Alt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FDIR_Health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Predicted_State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Number_Of_Failures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Priority-Inheritance Mutex</a:t>
                      </a: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/Double-Buffering for </a:t>
                      </a:r>
                      <a:r>
                        <a:rPr kumimoji="0" lang="en-IN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Predicted_State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244877"/>
                  </a:ext>
                </a:extLst>
              </a:tr>
              <a:tr h="6005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/>
                        <a:t>Mission_Manager_Task</a:t>
                      </a:r>
                      <a:endParaRPr lang="en-IN" sz="1600" dirty="0"/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Autopilot_Mode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Flight_Phase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Priority-Inheritance Mutex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072424"/>
                  </a:ext>
                </a:extLst>
              </a:tr>
              <a:tr h="1629974">
                <a:tc>
                  <a:txBody>
                    <a:bodyPr/>
                    <a:lstStyle/>
                    <a:p>
                      <a:r>
                        <a:rPr lang="en-IN" sz="1600" dirty="0" err="1"/>
                        <a:t>Position_Controller_Task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Heading</a:t>
                      </a:r>
                    </a:p>
                    <a:p>
                      <a:r>
                        <a:rPr lang="en-IN" sz="1600" dirty="0"/>
                        <a:t>GPS</a:t>
                      </a:r>
                    </a:p>
                    <a:p>
                      <a:r>
                        <a:rPr lang="en-IN" sz="1600" dirty="0"/>
                        <a:t>Altitude</a:t>
                      </a:r>
                    </a:p>
                    <a:p>
                      <a:r>
                        <a:rPr lang="en-IN" sz="1600" dirty="0"/>
                        <a:t>Airspeed</a:t>
                      </a:r>
                    </a:p>
                    <a:p>
                      <a:r>
                        <a:rPr lang="en-IN" sz="1600" dirty="0" err="1"/>
                        <a:t>Predicted_State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FDIR_Health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Priority-Inheritance Mutex</a:t>
                      </a: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/Double-Buffering for </a:t>
                      </a:r>
                      <a:r>
                        <a:rPr kumimoji="0" lang="en-IN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Predicted_State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149306"/>
                  </a:ext>
                </a:extLst>
              </a:tr>
              <a:tr h="11152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/>
                        <a:t>Position_Controller_Task</a:t>
                      </a:r>
                      <a:endParaRPr lang="en-IN" sz="1600" dirty="0"/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Roll_Target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Pitch_Target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Yaw_Target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Throttle_Target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Priority-Inheritance Mutex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076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393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301</Words>
  <Application>Microsoft Office PowerPoint</Application>
  <PresentationFormat>Widescreen</PresentationFormat>
  <Paragraphs>98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RTOS architecture (Rate Monotic Scheduler with pre-emption)</vt:lpstr>
      <vt:lpstr>Inter-Process Communication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Aniket Sharma</dc:creator>
  <cp:lastModifiedBy>Aniket Sharma</cp:lastModifiedBy>
  <cp:revision>4</cp:revision>
  <dcterms:created xsi:type="dcterms:W3CDTF">2026-02-21T07:42:57Z</dcterms:created>
  <dcterms:modified xsi:type="dcterms:W3CDTF">2026-02-21T08:26:32Z</dcterms:modified>
</cp:coreProperties>
</file>